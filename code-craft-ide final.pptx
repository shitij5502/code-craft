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
  </p:notesMasterIdLst>
  <p:sldIdLst>
    <p:sldId id="304" r:id="rId2"/>
    <p:sldId id="256" r:id="rId3"/>
    <p:sldId id="257" r:id="rId4"/>
    <p:sldId id="258" r:id="rId5"/>
    <p:sldId id="259" r:id="rId6"/>
    <p:sldId id="260" r:id="rId7"/>
    <p:sldId id="261" r:id="rId8"/>
    <p:sldId id="262" r:id="rId9"/>
    <p:sldId id="263" r:id="rId10"/>
    <p:sldId id="264" r:id="rId11"/>
    <p:sldId id="265" r:id="rId12"/>
    <p:sldId id="282" r:id="rId13"/>
    <p:sldId id="283" r:id="rId14"/>
    <p:sldId id="266" r:id="rId15"/>
    <p:sldId id="274" r:id="rId16"/>
    <p:sldId id="281" r:id="rId17"/>
    <p:sldId id="27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721C6B-4502-4F07-9255-FAE0CDB08194}" v="2" dt="2026-04-29T16:49:05.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046" autoAdjust="0"/>
  </p:normalViewPr>
  <p:slideViewPr>
    <p:cSldViewPr>
      <p:cViewPr varScale="1">
        <p:scale>
          <a:sx n="72" d="100"/>
          <a:sy n="72" d="100"/>
        </p:scale>
        <p:origin x="1762"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58394D-F2EB-410F-906B-FD7D8F6C0D76}" type="datetimeFigureOut">
              <a:rPr lang="en-US" smtClean="0"/>
              <a:t>5/10/2026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CB07EB-F84C-4A52-B176-CCA0C2965ACC}" type="slidenum">
              <a:rPr lang="en-US" smtClean="0"/>
              <a:t>‹#›</a:t>
            </a:fld>
            <a:endParaRPr lang="en-US"/>
          </a:p>
        </p:txBody>
      </p:sp>
    </p:spTree>
    <p:extLst>
      <p:ext uri="{BB962C8B-B14F-4D97-AF65-F5344CB8AC3E}">
        <p14:creationId xmlns:p14="http://schemas.microsoft.com/office/powerpoint/2010/main" val="1217094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mn-cs"/>
              </a:rPr>
              <a:t>Database Table Relationship</a:t>
            </a:r>
            <a:endParaRPr lang="en-US"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DCB07EB-F84C-4A52-B176-CCA0C2965ACC}" type="slidenum">
              <a:rPr lang="en-US" smtClean="0"/>
              <a:t>11</a:t>
            </a:fld>
            <a:endParaRPr lang="en-US"/>
          </a:p>
        </p:txBody>
      </p:sp>
    </p:spTree>
    <p:extLst>
      <p:ext uri="{BB962C8B-B14F-4D97-AF65-F5344CB8AC3E}">
        <p14:creationId xmlns:p14="http://schemas.microsoft.com/office/powerpoint/2010/main" val="3634749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29F357B5-208D-43B9-B470-40A360E5B884}" type="datetimeFigureOut">
              <a:rPr lang="en-US" smtClean="0"/>
              <a:t>5/10/2026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858AAC3-08FD-4350-BF29-231A092F1E84}"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9F357B5-208D-43B9-B470-40A360E5B88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9F357B5-208D-43B9-B470-40A360E5B88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9F357B5-208D-43B9-B470-40A360E5B88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9F357B5-208D-43B9-B470-40A360E5B884}"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29F357B5-208D-43B9-B470-40A360E5B884}"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29F357B5-208D-43B9-B470-40A360E5B884}"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58AAC3-08FD-4350-BF29-231A092F1E84}"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9F357B5-208D-43B9-B470-40A360E5B88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29F357B5-208D-43B9-B470-40A360E5B88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58AAC3-08FD-4350-BF29-231A092F1E84}"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9F357B5-208D-43B9-B470-40A360E5B88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9F357B5-208D-43B9-B470-40A360E5B88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29F357B5-208D-43B9-B470-40A360E5B884}" type="datetimeFigureOut">
              <a:rPr lang="en-US" smtClean="0"/>
              <a:t>5/10/2026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C858AAC3-08FD-4350-BF29-231A092F1E84}"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069DF3-40B4-6004-DF34-DD2553C8D62A}"/>
              </a:ext>
            </a:extLst>
          </p:cNvPr>
          <p:cNvSpPr txBox="1"/>
          <p:nvPr/>
        </p:nvSpPr>
        <p:spPr>
          <a:xfrm>
            <a:off x="971601" y="0"/>
            <a:ext cx="8172399" cy="6996787"/>
          </a:xfrm>
          <a:prstGeom prst="rect">
            <a:avLst/>
          </a:prstGeom>
          <a:noFill/>
        </p:spPr>
        <p:txBody>
          <a:bodyPr wrap="square">
            <a:spAutoFit/>
          </a:bodyPr>
          <a:lstStyle/>
          <a:p>
            <a:pPr algn="ctr" rtl="0">
              <a:buNone/>
            </a:pPr>
            <a:endParaRPr lang="en-US" sz="1800" b="1" i="0" u="none" strike="noStrike" dirty="0">
              <a:solidFill>
                <a:srgbClr val="000000"/>
              </a:solidFill>
              <a:effectLst/>
              <a:latin typeface="Times New Roman" panose="02020603050405020304" pitchFamily="18" charset="0"/>
            </a:endParaRPr>
          </a:p>
          <a:p>
            <a:pPr algn="ctr" rtl="0">
              <a:buNone/>
            </a:pPr>
            <a:r>
              <a:rPr lang="en-US" sz="1800" b="1" i="0" u="none" strike="noStrike" dirty="0">
                <a:solidFill>
                  <a:srgbClr val="000000"/>
                </a:solidFill>
                <a:effectLst/>
                <a:latin typeface="Times New Roman" panose="02020603050405020304" pitchFamily="18" charset="0"/>
              </a:rPr>
              <a:t>Project Presentation of Industry Oriented Hands</a:t>
            </a:r>
            <a:r>
              <a:rPr lang="en-US" b="1" dirty="0">
                <a:solidFill>
                  <a:srgbClr val="000000"/>
                </a:solidFill>
                <a:latin typeface="Times New Roman" panose="02020603050405020304" pitchFamily="18" charset="0"/>
              </a:rPr>
              <a:t> </a:t>
            </a:r>
            <a:r>
              <a:rPr lang="en-US" sz="1800" b="1" i="0" u="none" strike="noStrike" dirty="0">
                <a:solidFill>
                  <a:srgbClr val="000000"/>
                </a:solidFill>
                <a:effectLst/>
                <a:latin typeface="Times New Roman" panose="02020603050405020304" pitchFamily="18" charset="0"/>
              </a:rPr>
              <a:t>on Experience (22CS422)</a:t>
            </a: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On</a:t>
            </a:r>
          </a:p>
          <a:p>
            <a:pPr algn="ctr" rtl="0">
              <a:spcBef>
                <a:spcPts val="400"/>
              </a:spcBef>
              <a:buNone/>
            </a:pPr>
            <a:endParaRPr lang="en-US" b="0" dirty="0">
              <a:effectLst/>
            </a:endParaRPr>
          </a:p>
          <a:p>
            <a:pPr algn="ctr" rtl="0">
              <a:spcBef>
                <a:spcPts val="400"/>
              </a:spcBef>
              <a:buNone/>
            </a:pPr>
            <a:r>
              <a:rPr lang="en-US" sz="4400" dirty="0">
                <a:solidFill>
                  <a:srgbClr val="000000"/>
                </a:solidFill>
                <a:latin typeface="Times New Roman" panose="02020603050405020304" pitchFamily="18" charset="0"/>
              </a:rPr>
              <a:t>CODE-CRAFT</a:t>
            </a:r>
            <a:endParaRPr lang="en-US" b="0" dirty="0">
              <a:effectLst/>
            </a:endParaRPr>
          </a:p>
          <a:p>
            <a:pPr algn="ctr" rtl="0">
              <a:spcBef>
                <a:spcPts val="400"/>
              </a:spcBef>
              <a:buNone/>
            </a:pPr>
            <a:r>
              <a:rPr lang="en-US" sz="2000" dirty="0" err="1">
                <a:solidFill>
                  <a:srgbClr val="000000"/>
                </a:solidFill>
                <a:latin typeface="Times New Roman" panose="02020603050405020304" pitchFamily="18" charset="0"/>
              </a:rPr>
              <a:t>Shitij</a:t>
            </a:r>
            <a:r>
              <a:rPr lang="en-US" sz="2000" dirty="0">
                <a:solidFill>
                  <a:srgbClr val="000000"/>
                </a:solidFill>
                <a:latin typeface="Times New Roman" panose="02020603050405020304" pitchFamily="18" charset="0"/>
              </a:rPr>
              <a:t> Kalia (2210992300)</a:t>
            </a:r>
          </a:p>
          <a:p>
            <a:pPr algn="ctr" rtl="0">
              <a:spcBef>
                <a:spcPts val="400"/>
              </a:spcBef>
              <a:buNone/>
            </a:pPr>
            <a:r>
              <a:rPr lang="en-US" sz="2000" b="0" dirty="0">
                <a:solidFill>
                  <a:srgbClr val="000000"/>
                </a:solidFill>
                <a:effectLst/>
                <a:latin typeface="Times New Roman" panose="02020603050405020304" pitchFamily="18" charset="0"/>
              </a:rPr>
              <a:t>Nikhil Kaushal (2210991980)</a:t>
            </a:r>
          </a:p>
          <a:p>
            <a:pPr algn="ctr" rtl="0">
              <a:spcBef>
                <a:spcPts val="400"/>
              </a:spcBef>
              <a:buNone/>
            </a:pPr>
            <a:r>
              <a:rPr lang="en-US" sz="2000" dirty="0">
                <a:solidFill>
                  <a:srgbClr val="000000"/>
                </a:solidFill>
                <a:latin typeface="Times New Roman" panose="02020603050405020304" pitchFamily="18" charset="0"/>
              </a:rPr>
              <a:t>Nikhil (2210991977)</a:t>
            </a:r>
          </a:p>
          <a:p>
            <a:pPr algn="ctr" rtl="0">
              <a:spcBef>
                <a:spcPts val="400"/>
              </a:spcBef>
              <a:buNone/>
            </a:pPr>
            <a:r>
              <a:rPr lang="en-US" sz="2000" b="0" dirty="0">
                <a:solidFill>
                  <a:srgbClr val="000000"/>
                </a:solidFill>
                <a:effectLst/>
                <a:latin typeface="Times New Roman" panose="02020603050405020304" pitchFamily="18" charset="0"/>
              </a:rPr>
              <a:t>Shashi Kumar (2210992289)</a:t>
            </a:r>
            <a:endParaRPr lang="en-US" b="0" dirty="0">
              <a:effectLst/>
            </a:endParaRPr>
          </a:p>
          <a:p>
            <a:pPr>
              <a:buNone/>
            </a:pPr>
            <a:br>
              <a:rPr lang="en-US" b="0" dirty="0">
                <a:effectLst/>
              </a:rPr>
            </a:b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Supervised By</a:t>
            </a: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Mrs. Preeti Saini</a:t>
            </a:r>
            <a:endParaRPr lang="en-US" b="0" dirty="0">
              <a:effectLst/>
            </a:endParaRPr>
          </a:p>
          <a:p>
            <a:pPr>
              <a:buNone/>
            </a:pPr>
            <a:br>
              <a:rPr lang="en-US" b="0" dirty="0">
                <a:effectLst/>
              </a:rPr>
            </a:br>
            <a:br>
              <a:rPr lang="en-US" b="0" dirty="0">
                <a:effectLst/>
              </a:rPr>
            </a:br>
            <a:br>
              <a:rPr lang="en-US" b="0" dirty="0">
                <a:effectLst/>
              </a:rPr>
            </a:br>
            <a:endParaRPr lang="en-US" b="0" dirty="0">
              <a:effectLst/>
            </a:endParaRPr>
          </a:p>
          <a:p>
            <a:pPr algn="ctr" rtl="0">
              <a:spcBef>
                <a:spcPts val="400"/>
              </a:spcBef>
              <a:buNone/>
            </a:pPr>
            <a:r>
              <a:rPr lang="en-US" sz="2400" b="0" i="0" u="none" strike="noStrike" dirty="0">
                <a:solidFill>
                  <a:srgbClr val="000000"/>
                </a:solidFill>
                <a:effectLst/>
                <a:latin typeface="Times New Roman" panose="02020603050405020304" pitchFamily="18" charset="0"/>
              </a:rPr>
              <a:t>Department of Computer Science and Engineering, </a:t>
            </a:r>
            <a:endParaRPr lang="en-US" b="0" dirty="0">
              <a:effectLst/>
            </a:endParaRPr>
          </a:p>
          <a:p>
            <a:pPr algn="ctr" rtl="0">
              <a:spcBef>
                <a:spcPts val="400"/>
              </a:spcBef>
              <a:buNone/>
            </a:pPr>
            <a:r>
              <a:rPr lang="en-US" sz="2400" b="0" i="0" u="none" strike="noStrike" dirty="0">
                <a:solidFill>
                  <a:srgbClr val="000000"/>
                </a:solidFill>
                <a:effectLst/>
                <a:latin typeface="Times New Roman" panose="02020603050405020304" pitchFamily="18" charset="0"/>
              </a:rPr>
              <a:t>Chitkara University, Punjab</a:t>
            </a:r>
            <a:endParaRPr lang="en-US" b="0" dirty="0">
              <a:effectLst/>
            </a:endParaRPr>
          </a:p>
          <a:p>
            <a:pPr>
              <a:buNone/>
            </a:pPr>
            <a:endParaRPr lang="en-IN" dirty="0"/>
          </a:p>
        </p:txBody>
      </p:sp>
    </p:spTree>
    <p:extLst>
      <p:ext uri="{BB962C8B-B14F-4D97-AF65-F5344CB8AC3E}">
        <p14:creationId xmlns:p14="http://schemas.microsoft.com/office/powerpoint/2010/main" val="2725721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0100" y="1785926"/>
            <a:ext cx="8286808" cy="2143140"/>
          </a:xfrm>
        </p:spPr>
        <p:txBody>
          <a:bodyPr/>
          <a:lstStyle/>
          <a:p>
            <a:pPr algn="ctr"/>
            <a:r>
              <a:rPr lang="en-US" b="1" dirty="0"/>
              <a:t>CODE_CRAFT USING MERN STACK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900"/>
            <a:ext cx="7862150" cy="1143008"/>
          </a:xfrm>
        </p:spPr>
        <p:txBody>
          <a:bodyPr/>
          <a:lstStyle/>
          <a:p>
            <a:pPr algn="ctr"/>
            <a:r>
              <a:rPr lang="en-IN" dirty="0"/>
              <a:t>ABSTRACT</a:t>
            </a:r>
            <a:endParaRPr lang="en-US" dirty="0"/>
          </a:p>
        </p:txBody>
      </p:sp>
      <p:sp>
        <p:nvSpPr>
          <p:cNvPr id="3" name="Content Placeholder 2"/>
          <p:cNvSpPr>
            <a:spLocks noGrp="1"/>
          </p:cNvSpPr>
          <p:nvPr>
            <p:ph idx="1"/>
          </p:nvPr>
        </p:nvSpPr>
        <p:spPr>
          <a:xfrm>
            <a:off x="1142976" y="1142984"/>
            <a:ext cx="7790712" cy="5429288"/>
          </a:xfrm>
        </p:spPr>
        <p:txBody>
          <a:bodyPr>
            <a:normAutofit fontScale="55000" lnSpcReduction="20000"/>
          </a:bodyPr>
          <a:lstStyle/>
          <a:p>
            <a:pPr marL="0" indent="0">
              <a:buNone/>
            </a:pPr>
            <a:r>
              <a:rPr lang="en-US" dirty="0">
                <a:solidFill>
                  <a:srgbClr val="111111"/>
                </a:solidFill>
                <a:latin typeface="Times New Roman" pitchFamily="34" charset="0"/>
                <a:ea typeface="Times New Roman" pitchFamily="34" charset="-122"/>
                <a:cs typeface="Times New Roman" pitchFamily="34" charset="-120"/>
              </a:rPr>
              <a:t>As the name specifies, “CODE-CRAFT” is software developed for managing online coding practice, learning content, project submissions, and collaboration between students and mentors. In modern technical education, students need a single platform where they can learn programming concepts, solve coding problems, submit projects, and receive feedback quickly. Manual tracking through files, messages, or spreadsheets creates delays, data inconsistency, and limited visibility of progress.</a:t>
            </a:r>
            <a:endParaRPr lang="en-US" dirty="0"/>
          </a:p>
          <a:p>
            <a:pPr marL="0" indent="0">
              <a:buNone/>
            </a:pP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Identification of drawbacks in the existing manual process leads to the design of a computerized system that is more user friendly, secure, and GUI oriented. The platform improves efficiency, reduces repeated work, and keeps coding activity, submissions, and evaluations organized.</a:t>
            </a:r>
            <a:endParaRPr lang="en-US" dirty="0"/>
          </a:p>
          <a:p>
            <a:pPr hangingPunct="0">
              <a:buNone/>
            </a:pP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Less human error</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Reduced manual work for mentors and administrators</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High security with role-based access</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a:t>
            </a:r>
            <a:r>
              <a:rPr lang="en-US" dirty="0" err="1">
                <a:solidFill>
                  <a:srgbClr val="111111"/>
                </a:solidFill>
                <a:latin typeface="Times New Roman" pitchFamily="34" charset="0"/>
                <a:ea typeface="Times New Roman" pitchFamily="34" charset="-122"/>
                <a:cs typeface="Times New Roman" pitchFamily="34" charset="-120"/>
              </a:rPr>
              <a:t>Centralised</a:t>
            </a:r>
            <a:r>
              <a:rPr lang="en-US" dirty="0">
                <a:solidFill>
                  <a:srgbClr val="111111"/>
                </a:solidFill>
                <a:latin typeface="Times New Roman" pitchFamily="34" charset="0"/>
                <a:ea typeface="Times New Roman" pitchFamily="34" charset="-122"/>
                <a:cs typeface="Times New Roman" pitchFamily="34" charset="-120"/>
              </a:rPr>
              <a:t> coding records and project submissions</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Easy profile, course, and problem updating</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Quick feedback and performance tracking</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Backup data can be generated easily</a:t>
            </a: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928694"/>
          </a:xfrm>
        </p:spPr>
        <p:txBody>
          <a:bodyPr>
            <a:normAutofit fontScale="90000"/>
          </a:bodyPr>
          <a:lstStyle/>
          <a:p>
            <a:pPr algn="ctr"/>
            <a:r>
              <a:rPr lang="en-US" b="1" dirty="0"/>
              <a:t>INTRODUCTION</a:t>
            </a:r>
            <a:br>
              <a:rPr lang="en-US" dirty="0"/>
            </a:br>
            <a:endParaRPr lang="en-US" dirty="0"/>
          </a:p>
        </p:txBody>
      </p:sp>
      <p:sp>
        <p:nvSpPr>
          <p:cNvPr id="3" name="Content Placeholder 2"/>
          <p:cNvSpPr>
            <a:spLocks noGrp="1"/>
          </p:cNvSpPr>
          <p:nvPr>
            <p:ph idx="1"/>
          </p:nvPr>
        </p:nvSpPr>
        <p:spPr>
          <a:xfrm>
            <a:off x="1071538" y="785794"/>
            <a:ext cx="7862150" cy="5786478"/>
          </a:xfrm>
        </p:spPr>
        <p:txBody>
          <a:bodyPr>
            <a:normAutofit fontScale="92500" lnSpcReduction="10000"/>
          </a:bodyPr>
          <a:lstStyle/>
          <a:p>
            <a:pPr marL="0" indent="0">
              <a:buNone/>
            </a:pPr>
            <a:r>
              <a:rPr lang="en-US" sz="2800" dirty="0">
                <a:solidFill>
                  <a:srgbClr val="111111"/>
                </a:solidFill>
                <a:latin typeface="Times New Roman" pitchFamily="34" charset="0"/>
                <a:ea typeface="Times New Roman" pitchFamily="34" charset="-122"/>
                <a:cs typeface="Times New Roman" pitchFamily="34" charset="-120"/>
              </a:rPr>
              <a:t>Code-Craft has two major modules i.e. Admin and User/Student.</a:t>
            </a:r>
            <a:endParaRPr lang="en-US" sz="2800" dirty="0"/>
          </a:p>
          <a:p>
            <a:pPr>
              <a:buNone/>
            </a:pPr>
            <a:r>
              <a:rPr lang="en-US" sz="2200" b="1" u="sng" dirty="0"/>
              <a:t>Admin Panel</a:t>
            </a:r>
            <a:r>
              <a:rPr lang="en-US" sz="2200" dirty="0"/>
              <a:t> </a:t>
            </a:r>
          </a:p>
          <a:p>
            <a:pPr marL="0" indent="0">
              <a:buNone/>
            </a:pPr>
            <a:r>
              <a:rPr lang="en-US" sz="2400" dirty="0">
                <a:solidFill>
                  <a:srgbClr val="111111"/>
                </a:solidFill>
                <a:latin typeface="Times New Roman" pitchFamily="34" charset="0"/>
                <a:ea typeface="Times New Roman" pitchFamily="34" charset="-122"/>
                <a:cs typeface="Times New Roman" pitchFamily="34" charset="-120"/>
              </a:rPr>
              <a:t>• Admin Login – Admin can login through a secure login form.</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Admin Profile – Admin can manage profile and change password.</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Courses – Admin can add, edit, and delete programming courses.</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Problems – Admin can create coding questions with test cases.</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Users – Admin can add student profiles and assign batches/courses.</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Manage Submissions – Admin can review code submissions and scores.</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Discussion &amp; Feedback – Admin can view issues, discussions, and student feedback.</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Forgot Password – Admin can retrieve account access through recovery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285728"/>
            <a:ext cx="7790712" cy="6527648"/>
          </a:xfrm>
        </p:spPr>
        <p:txBody>
          <a:bodyPr>
            <a:normAutofit fontScale="62500" lnSpcReduction="20000"/>
          </a:bodyPr>
          <a:lstStyle/>
          <a:p>
            <a:pPr hangingPunct="0">
              <a:buNone/>
            </a:pPr>
            <a:r>
              <a:rPr lang="en-US" sz="4000" b="1" u="sng" dirty="0"/>
              <a:t>User Panel</a:t>
            </a:r>
          </a:p>
          <a:p>
            <a:pPr hangingPunct="0">
              <a:buNone/>
            </a:pPr>
            <a:endParaRPr lang="en-US" sz="4000" b="1" u="sng" dirty="0"/>
          </a:p>
          <a:p>
            <a:pPr marL="0" indent="0">
              <a:buNone/>
            </a:pPr>
            <a:r>
              <a:rPr lang="en-US" dirty="0">
                <a:solidFill>
                  <a:srgbClr val="111111"/>
                </a:solidFill>
                <a:latin typeface="Times New Roman" pitchFamily="34" charset="0"/>
                <a:ea typeface="Times New Roman" pitchFamily="34" charset="-122"/>
                <a:cs typeface="Times New Roman" pitchFamily="34" charset="-120"/>
              </a:rPr>
              <a:t>• User Registration – User can register through the registration form.</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User Login – User can login through login form.</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Forgot Password – User can retrieve password through recovery link.</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User Dashboard – User can view assigned courses, problems, and progress.</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User Profile – User can manage their own profile.</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Practice Problems – The user can write, run, and submit code.</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Project Submission – The user can upload project details and repository link.</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Submission History – The user can check submitted code, result, and status.</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Discussion Forum – Users can ask doubts and reply to classmates.</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Feedback – The user can give feedback for courses and the platform.</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Change Password – User can change their own password.</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Access Log – User can view last login details.</a:t>
            </a:r>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8072462" cy="1274786"/>
          </a:xfrm>
        </p:spPr>
        <p:txBody>
          <a:bodyPr>
            <a:normAutofit fontScale="90000"/>
          </a:bodyPr>
          <a:lstStyle/>
          <a:p>
            <a:pPr algn="ctr"/>
            <a:r>
              <a:rPr lang="en-US" b="1" dirty="0"/>
              <a:t>SYSTEM ENVIRONMENT</a:t>
            </a:r>
            <a:br>
              <a:rPr lang="en-US" dirty="0"/>
            </a:br>
            <a:endParaRPr lang="en-US" dirty="0"/>
          </a:p>
        </p:txBody>
      </p:sp>
      <p:sp>
        <p:nvSpPr>
          <p:cNvPr id="3" name="Content Placeholder 2"/>
          <p:cNvSpPr>
            <a:spLocks noGrp="1"/>
          </p:cNvSpPr>
          <p:nvPr>
            <p:ph idx="1"/>
          </p:nvPr>
        </p:nvSpPr>
        <p:spPr>
          <a:xfrm>
            <a:off x="1142976" y="1071546"/>
            <a:ext cx="7790712" cy="5176854"/>
          </a:xfrm>
        </p:spPr>
        <p:txBody>
          <a:bodyPr>
            <a:normAutofit fontScale="70000" lnSpcReduction="20000"/>
          </a:bodyPr>
          <a:lstStyle/>
          <a:p>
            <a:pPr>
              <a:buNone/>
            </a:pPr>
            <a:r>
              <a:rPr lang="en-US" sz="2200" b="1" u="sng" dirty="0"/>
              <a:t>Hardware Configuration</a:t>
            </a:r>
            <a:endParaRPr lang="en-US" sz="22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Intel i3 / Ryzen 3 processor or above</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4 GB RAM or above</a:t>
            </a:r>
            <a:endParaRPr lang="en-US" sz="2400" dirty="0"/>
          </a:p>
          <a:p>
            <a:pPr marL="0" indent="0">
              <a:buNone/>
            </a:pP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100 GB available storage</a:t>
            </a:r>
            <a:endParaRPr lang="en-US" sz="2400" dirty="0"/>
          </a:p>
          <a:p>
            <a:pPr marL="0" indent="0">
              <a:buNone/>
            </a:pP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1366 × 768 resolution color monitor</a:t>
            </a:r>
            <a:endParaRPr lang="en-US" sz="2400" dirty="0"/>
          </a:p>
          <a:p>
            <a:pPr marL="0" indent="0">
              <a:buNone/>
            </a:pP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Stable internet connection</a:t>
            </a:r>
            <a:endParaRPr lang="en-US" sz="2200" dirty="0"/>
          </a:p>
          <a:p>
            <a:pPr>
              <a:buNone/>
            </a:pPr>
            <a:r>
              <a:rPr lang="en-US" sz="2200" b="1" u="sng" dirty="0"/>
              <a:t>Software Configuration</a:t>
            </a:r>
          </a:p>
          <a:p>
            <a:pPr marL="0" indent="0">
              <a:buNone/>
            </a:pPr>
            <a:r>
              <a:rPr lang="en-US" sz="2400" dirty="0">
                <a:solidFill>
                  <a:srgbClr val="111111"/>
                </a:solidFill>
                <a:latin typeface="Times New Roman" pitchFamily="34" charset="0"/>
                <a:ea typeface="Times New Roman" pitchFamily="34" charset="-122"/>
                <a:cs typeface="Times New Roman" pitchFamily="34" charset="-120"/>
              </a:rPr>
              <a:t>• OS: Windows 10 / Linux / macOS</a:t>
            </a: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Frontend: React.js, HTML, CSS, JavaScript</a:t>
            </a:r>
            <a:endParaRPr lang="en-US" sz="2400" dirty="0"/>
          </a:p>
          <a:p>
            <a:pPr marL="0" indent="0">
              <a:buNone/>
            </a:pP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Backend: Node.js and Express.js</a:t>
            </a:r>
            <a:endParaRPr lang="en-US" sz="2400" dirty="0"/>
          </a:p>
          <a:p>
            <a:pPr marL="0" indent="0">
              <a:buNone/>
            </a:pP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Database: MongoDB</a:t>
            </a:r>
            <a:endParaRPr lang="en-US" sz="2400" dirty="0"/>
          </a:p>
          <a:p>
            <a:pPr marL="0" indent="0">
              <a:buNone/>
            </a:pPr>
            <a:endParaRPr lang="en-US" sz="2400" dirty="0"/>
          </a:p>
          <a:p>
            <a:pPr marL="0" indent="0">
              <a:buNone/>
            </a:pPr>
            <a:r>
              <a:rPr lang="en-US" sz="2400" dirty="0">
                <a:solidFill>
                  <a:srgbClr val="111111"/>
                </a:solidFill>
                <a:latin typeface="Times New Roman" pitchFamily="34" charset="0"/>
                <a:ea typeface="Times New Roman" pitchFamily="34" charset="-122"/>
                <a:cs typeface="Times New Roman" pitchFamily="34" charset="-120"/>
              </a:rPr>
              <a:t>• Tools: VS Code, Git, Postman, </a:t>
            </a:r>
            <a:r>
              <a:rPr lang="en-US" sz="2400" dirty="0" err="1">
                <a:solidFill>
                  <a:srgbClr val="111111"/>
                </a:solidFill>
                <a:latin typeface="Times New Roman" pitchFamily="34" charset="0"/>
                <a:ea typeface="Times New Roman" pitchFamily="34" charset="-122"/>
                <a:cs typeface="Times New Roman" pitchFamily="34" charset="-120"/>
              </a:rPr>
              <a:t>npm</a:t>
            </a:r>
            <a:endParaRPr lang="en-US" sz="2400" dirty="0"/>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0"/>
            <a:ext cx="4396545" cy="785794"/>
          </a:xfrm>
        </p:spPr>
        <p:txBody>
          <a:bodyPr/>
          <a:lstStyle/>
          <a:p>
            <a:pPr algn="ctr"/>
            <a:r>
              <a:rPr lang="en-IN" dirty="0"/>
              <a:t>Use Case Diagram</a:t>
            </a:r>
            <a:endParaRPr lang="en-US" dirty="0"/>
          </a:p>
        </p:txBody>
      </p:sp>
      <p:pic>
        <p:nvPicPr>
          <p:cNvPr id="9" name="Picture 8">
            <a:extLst>
              <a:ext uri="{FF2B5EF4-FFF2-40B4-BE49-F238E27FC236}">
                <a16:creationId xmlns:a16="http://schemas.microsoft.com/office/drawing/2014/main" id="{9C86628F-C673-1B8E-7CC9-B05ED8E26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7904" y="5905"/>
            <a:ext cx="5436096"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983266-EF8B-99E0-4723-C9DFE3A34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0"/>
            <a:ext cx="7056784"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0"/>
            <a:ext cx="7719274" cy="764705"/>
          </a:xfrm>
        </p:spPr>
        <p:txBody>
          <a:bodyPr/>
          <a:lstStyle/>
          <a:p>
            <a:pPr algn="ctr"/>
            <a:r>
              <a:rPr lang="en-IN" dirty="0"/>
              <a:t>ER Diagram</a:t>
            </a:r>
            <a:endParaRPr lang="en-US" dirty="0"/>
          </a:p>
        </p:txBody>
      </p:sp>
      <p:pic>
        <p:nvPicPr>
          <p:cNvPr id="6" name="Picture 5">
            <a:extLst>
              <a:ext uri="{FF2B5EF4-FFF2-40B4-BE49-F238E27FC236}">
                <a16:creationId xmlns:a16="http://schemas.microsoft.com/office/drawing/2014/main" id="{9DA5548E-FC5B-1ADE-0EE4-B302212589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764705"/>
            <a:ext cx="7135221" cy="60932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0"/>
            <a:ext cx="7719274" cy="1417638"/>
          </a:xfrm>
        </p:spPr>
        <p:txBody>
          <a:bodyPr/>
          <a:lstStyle/>
          <a:p>
            <a:pPr algn="ctr"/>
            <a:r>
              <a:rPr lang="en-IN" dirty="0"/>
              <a:t>DATABASE DESIGN</a:t>
            </a:r>
            <a:endParaRPr lang="en-US" dirty="0"/>
          </a:p>
        </p:txBody>
      </p:sp>
      <p:sp>
        <p:nvSpPr>
          <p:cNvPr id="3" name="Content Placeholder 2"/>
          <p:cNvSpPr>
            <a:spLocks noGrp="1"/>
          </p:cNvSpPr>
          <p:nvPr>
            <p:ph idx="1"/>
          </p:nvPr>
        </p:nvSpPr>
        <p:spPr>
          <a:xfrm>
            <a:off x="1071538" y="1285860"/>
            <a:ext cx="7862150" cy="4962540"/>
          </a:xfrm>
        </p:spPr>
        <p:txBody>
          <a:bodyPr>
            <a:normAutofit/>
          </a:bodyPr>
          <a:lstStyle/>
          <a:p>
            <a:pPr marL="0" indent="0">
              <a:buNone/>
            </a:pPr>
            <a:r>
              <a:rPr lang="en-US" sz="2000" dirty="0">
                <a:solidFill>
                  <a:srgbClr val="111111"/>
                </a:solidFill>
                <a:latin typeface="Times New Roman" pitchFamily="34" charset="0"/>
                <a:ea typeface="Times New Roman" pitchFamily="34" charset="-122"/>
                <a:cs typeface="Times New Roman" pitchFamily="34" charset="-120"/>
              </a:rPr>
              <a:t>The data in Code-Craft has to be stored and retrieved from a database. Designing the database is a part of system design. Data elements and data structures to be stored are identified at the analysis stage and structured to support quick retrieval, minimum redundancy, and secure access.</a:t>
            </a:r>
            <a:endParaRPr lang="en-US" sz="2000" dirty="0"/>
          </a:p>
          <a:p>
            <a:pPr marL="0" indent="0">
              <a:buNone/>
            </a:pPr>
            <a:endParaRPr lang="en-US" sz="2000" dirty="0"/>
          </a:p>
          <a:p>
            <a:pPr marL="0" indent="0">
              <a:buNone/>
            </a:pPr>
            <a:r>
              <a:rPr lang="en-US" sz="2000" dirty="0">
                <a:solidFill>
                  <a:srgbClr val="111111"/>
                </a:solidFill>
                <a:latin typeface="Times New Roman" pitchFamily="34" charset="0"/>
                <a:ea typeface="Times New Roman" pitchFamily="34" charset="-122"/>
                <a:cs typeface="Times New Roman" pitchFamily="34" charset="-120"/>
              </a:rPr>
              <a:t>A database is a collection of interrelated data stored with minimum duplication to serve many users quickly and efficiently. Relationships are established between users, courses, coding problems, submissions, projects, feedback, and discussions. Normalization is used to maintain internal consistency and reduce chances of data inconsistency. MongoDB has been selected for flexible document storage and fast development of the relevant collections.</a:t>
            </a:r>
            <a:endParaRPr lang="en-US" sz="2000" dirty="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lass-host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32656"/>
            <a:ext cx="7200800" cy="61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Flow Diagram (DFD)</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solidFill>
                  <a:srgbClr val="111111"/>
                </a:solidFill>
                <a:latin typeface="Times New Roman" pitchFamily="34" charset="0"/>
                <a:ea typeface="Times New Roman" pitchFamily="34" charset="-122"/>
                <a:cs typeface="Times New Roman" pitchFamily="34" charset="-120"/>
              </a:rPr>
              <a:t>A Data Flow Diagram (DFD) is a graphical representation of the flow of data through an information system. A DFD represents how input data is transformed into useful output through different processes. In Code-Craft, users enter registration data, code, project details, doubts, and feedback. The system validates this information, stores it in the database, and generates output such as results, reports, submission status, and feedback records.</a:t>
            </a:r>
            <a:endParaRPr lang="en-US" dirty="0"/>
          </a:p>
          <a:p>
            <a:endParaRPr lang="en-US" dirty="0"/>
          </a:p>
        </p:txBody>
      </p:sp>
    </p:spTree>
    <p:extLst>
      <p:ext uri="{BB962C8B-B14F-4D97-AF65-F5344CB8AC3E}">
        <p14:creationId xmlns:p14="http://schemas.microsoft.com/office/powerpoint/2010/main" val="217316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1D8723-DCDB-F0CF-4E3C-ADFA8E1062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332656"/>
            <a:ext cx="7920880" cy="6192688"/>
          </a:xfrm>
          <a:prstGeom prst="rect">
            <a:avLst/>
          </a:prstGeom>
        </p:spPr>
      </p:pic>
    </p:spTree>
    <p:extLst>
      <p:ext uri="{BB962C8B-B14F-4D97-AF65-F5344CB8AC3E}">
        <p14:creationId xmlns:p14="http://schemas.microsoft.com/office/powerpoint/2010/main" val="264932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900"/>
            <a:ext cx="7862150" cy="1285884"/>
          </a:xfrm>
        </p:spPr>
        <p:txBody>
          <a:bodyPr/>
          <a:lstStyle/>
          <a:p>
            <a:pPr algn="ctr"/>
            <a:r>
              <a:rPr lang="en-US" b="1" dirty="0"/>
              <a:t>SYSTEM TESTING</a:t>
            </a:r>
            <a:endParaRPr lang="en-US" dirty="0"/>
          </a:p>
        </p:txBody>
      </p:sp>
      <p:sp>
        <p:nvSpPr>
          <p:cNvPr id="3" name="Content Placeholder 2"/>
          <p:cNvSpPr>
            <a:spLocks noGrp="1"/>
          </p:cNvSpPr>
          <p:nvPr>
            <p:ph idx="1"/>
          </p:nvPr>
        </p:nvSpPr>
        <p:spPr>
          <a:xfrm>
            <a:off x="1142976" y="857232"/>
            <a:ext cx="7790712" cy="5391168"/>
          </a:xfrm>
        </p:spPr>
        <p:txBody>
          <a:bodyPr>
            <a:normAutofit/>
          </a:bodyPr>
          <a:lstStyle/>
          <a:p>
            <a:pPr>
              <a:buNone/>
            </a:pPr>
            <a:endParaRPr lang="en-IN" dirty="0"/>
          </a:p>
          <a:p>
            <a:pPr marL="0" indent="0">
              <a:buNone/>
            </a:pPr>
            <a:r>
              <a:rPr lang="en-US" sz="2000" dirty="0">
                <a:solidFill>
                  <a:srgbClr val="111111"/>
                </a:solidFill>
                <a:latin typeface="Times New Roman" pitchFamily="34" charset="0"/>
                <a:ea typeface="Times New Roman" pitchFamily="34" charset="-122"/>
                <a:cs typeface="Times New Roman" pitchFamily="34" charset="-120"/>
              </a:rPr>
              <a:t>System testing is the stage of implementation aimed at ensuring that the system works accurately and efficiently before live operation begins. Testing is the process of executing the program with the intention of finding errors, missing operations, and verifying whether objectives and user requirements are satisfied. The ultimate aim is quality assurance.</a:t>
            </a:r>
            <a:endParaRPr lang="en-US" sz="2000" dirty="0"/>
          </a:p>
          <a:p>
            <a:pPr marL="0" indent="0">
              <a:buNone/>
            </a:pPr>
            <a:endParaRPr lang="en-US" sz="2000" dirty="0"/>
          </a:p>
          <a:p>
            <a:pPr marL="0" indent="0">
              <a:buNone/>
            </a:pPr>
            <a:r>
              <a:rPr lang="en-US" sz="2000" dirty="0">
                <a:solidFill>
                  <a:srgbClr val="111111"/>
                </a:solidFill>
                <a:latin typeface="Times New Roman" pitchFamily="34" charset="0"/>
                <a:ea typeface="Times New Roman" pitchFamily="34" charset="-122"/>
                <a:cs typeface="Times New Roman" pitchFamily="34" charset="-120"/>
              </a:rPr>
              <a:t>Tests are carried out and the results are compared with the expected outcomes. In case of erroneous results, debugging is performed. A detailed test plan is prepared for each module. The main tests performed in Code-Craft are unit testing, integration testing, system testing, and user acceptance testing.</a:t>
            </a:r>
            <a:endParaRPr lang="en-US" sz="2000" dirty="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274638"/>
            <a:ext cx="7862150" cy="1143000"/>
          </a:xfrm>
        </p:spPr>
        <p:txBody>
          <a:bodyPr>
            <a:normAutofit fontScale="90000"/>
          </a:bodyPr>
          <a:lstStyle/>
          <a:p>
            <a:pPr algn="ctr"/>
            <a:r>
              <a:rPr lang="en-US" b="1" dirty="0"/>
              <a:t>CONCLUSION</a:t>
            </a:r>
            <a:br>
              <a:rPr lang="en-US" dirty="0"/>
            </a:br>
            <a:endParaRPr lang="en-US" dirty="0"/>
          </a:p>
        </p:txBody>
      </p:sp>
      <p:sp>
        <p:nvSpPr>
          <p:cNvPr id="3" name="Content Placeholder 2"/>
          <p:cNvSpPr>
            <a:spLocks noGrp="1"/>
          </p:cNvSpPr>
          <p:nvPr>
            <p:ph idx="1"/>
          </p:nvPr>
        </p:nvSpPr>
        <p:spPr>
          <a:xfrm>
            <a:off x="1000100" y="1142984"/>
            <a:ext cx="7933588" cy="5105416"/>
          </a:xfrm>
        </p:spPr>
        <p:txBody>
          <a:bodyPr>
            <a:normAutofit fontScale="70000" lnSpcReduction="20000"/>
          </a:bodyPr>
          <a:lstStyle/>
          <a:p>
            <a:pPr marL="0" indent="0">
              <a:buNone/>
            </a:pPr>
            <a:r>
              <a:rPr lang="en-US" dirty="0">
                <a:solidFill>
                  <a:srgbClr val="111111"/>
                </a:solidFill>
                <a:latin typeface="Times New Roman" pitchFamily="34" charset="0"/>
                <a:ea typeface="Times New Roman" pitchFamily="34" charset="-122"/>
                <a:cs typeface="Times New Roman" pitchFamily="34" charset="-120"/>
              </a:rPr>
              <a:t>To conclude the description about the project: Code-Craft, developed using the MERN stack, is based on user requirements and the analysis of existing manual learning and submission systems, with flexibility for future enhancement.</a:t>
            </a:r>
            <a:endParaRPr lang="en-US" dirty="0"/>
          </a:p>
          <a:p>
            <a:pPr marL="0" indent="0">
              <a:buNone/>
            </a:pP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The expanded functionality of modern software requires an organized approach toward software development. Code-Craft is designed for students, mentors, and administrators who want to manage coding practice, learning content, project submissions, discussions, and feedback in one place. It reduces manual effort, improves record keeping, and provides a user-friendly GUI for efficient interaction.</a:t>
            </a:r>
            <a:endParaRPr lang="en-US" dirty="0"/>
          </a:p>
          <a:p>
            <a:pPr marL="0" indent="0">
              <a:buNone/>
            </a:pP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The system can be enhanced in the future by adding AI code suggestions, plagiarism checking, live contests, automated certificates, and cloud deployment with scalable infrastructure.</a:t>
            </a:r>
            <a:endParaRPr lang="en-US" dirty="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effectLst/>
              </a:rPr>
              <a:t>BIBILIOGRAPHY</a:t>
            </a:r>
            <a:br>
              <a:rPr lang="en-US" dirty="0">
                <a:effectLst/>
              </a:rPr>
            </a:br>
            <a:endParaRPr lang="en-US" dirty="0"/>
          </a:p>
        </p:txBody>
      </p:sp>
      <p:sp>
        <p:nvSpPr>
          <p:cNvPr id="3" name="Content Placeholder 2"/>
          <p:cNvSpPr>
            <a:spLocks noGrp="1"/>
          </p:cNvSpPr>
          <p:nvPr>
            <p:ph idx="1"/>
          </p:nvPr>
        </p:nvSpPr>
        <p:spPr/>
        <p:txBody>
          <a:bodyPr>
            <a:normAutofit/>
          </a:bodyPr>
          <a:lstStyle/>
          <a:p>
            <a:pPr marL="0" indent="0">
              <a:buNone/>
            </a:pPr>
            <a:r>
              <a:rPr lang="en-US" dirty="0">
                <a:solidFill>
                  <a:srgbClr val="111111"/>
                </a:solidFill>
                <a:latin typeface="Times New Roman" pitchFamily="34" charset="0"/>
                <a:ea typeface="Times New Roman" pitchFamily="34" charset="-122"/>
                <a:cs typeface="Times New Roman" pitchFamily="34" charset="-120"/>
              </a:rPr>
              <a:t>• www.w3schools.com</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developer.mozilla.org</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a:t>
            </a:r>
            <a:r>
              <a:rPr lang="en-US" dirty="0" err="1">
                <a:solidFill>
                  <a:srgbClr val="111111"/>
                </a:solidFill>
                <a:latin typeface="Times New Roman" pitchFamily="34" charset="0"/>
                <a:ea typeface="Times New Roman" pitchFamily="34" charset="-122"/>
                <a:cs typeface="Times New Roman" pitchFamily="34" charset="-120"/>
              </a:rPr>
              <a:t>react.dev</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nodejs.org</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expressjs.com</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www.mongodb.com</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www.geeksforgeeks.org</a:t>
            </a:r>
            <a:endParaRPr lang="en-US" dirty="0"/>
          </a:p>
          <a:p>
            <a:pPr marL="0" indent="0">
              <a:buNone/>
            </a:pPr>
            <a:r>
              <a:rPr lang="en-US" dirty="0">
                <a:solidFill>
                  <a:srgbClr val="111111"/>
                </a:solidFill>
                <a:latin typeface="Times New Roman" pitchFamily="34" charset="0"/>
                <a:ea typeface="Times New Roman" pitchFamily="34" charset="-122"/>
                <a:cs typeface="Times New Roman" pitchFamily="34" charset="-120"/>
              </a:rPr>
              <a:t>• www.javatpoint.com</a:t>
            </a:r>
            <a:endParaRPr lang="en-US" dirty="0"/>
          </a:p>
        </p:txBody>
      </p:sp>
    </p:spTree>
    <p:extLst>
      <p:ext uri="{BB962C8B-B14F-4D97-AF65-F5344CB8AC3E}">
        <p14:creationId xmlns:p14="http://schemas.microsoft.com/office/powerpoint/2010/main" val="1772547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76" y="274638"/>
            <a:ext cx="7790712" cy="6083320"/>
          </a:xfrm>
        </p:spPr>
        <p:txBody>
          <a:bodyPr>
            <a:normAutofit/>
          </a:bodyPr>
          <a:lstStyle/>
          <a:p>
            <a:pPr algn="ctr"/>
            <a:r>
              <a:rPr lang="en-IN" sz="8800" b="1" dirty="0"/>
              <a:t>Thank You</a:t>
            </a:r>
            <a:endParaRPr lang="en-US" sz="88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234</TotalTime>
  <Words>1113</Words>
  <Application>Microsoft Office PowerPoint</Application>
  <PresentationFormat>On-screen Show (4:3)</PresentationFormat>
  <Paragraphs>103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Gill Sans MT</vt:lpstr>
      <vt:lpstr>Times New Roman</vt:lpstr>
      <vt:lpstr>Verdana</vt:lpstr>
      <vt:lpstr>Wingdings 2</vt:lpstr>
      <vt:lpstr>Solstice</vt:lpstr>
      <vt:lpstr>PowerPoint Presentation</vt:lpstr>
      <vt:lpstr>CODE_CRAFT USING MERN STACK</vt:lpstr>
      <vt:lpstr>ABSTRACT</vt:lpstr>
      <vt:lpstr>INTRODUCTION </vt:lpstr>
      <vt:lpstr>PowerPoint Presentation</vt:lpstr>
      <vt:lpstr>SYSTEM ENVIRONMENT </vt:lpstr>
      <vt:lpstr>Use Case Diagram</vt:lpstr>
      <vt:lpstr>PowerPoint Presentation</vt:lpstr>
      <vt:lpstr>ER Diagram</vt:lpstr>
      <vt:lpstr>DATABASE DESIGN</vt:lpstr>
      <vt:lpstr>PowerPoint Presentation</vt:lpstr>
      <vt:lpstr>Data Flow Diagram (DFD)</vt:lpstr>
      <vt:lpstr>PowerPoint Presentation</vt:lpstr>
      <vt:lpstr>SYSTEM TESTING</vt:lpstr>
      <vt:lpstr>CONCLUSION </vt:lpstr>
      <vt:lpstr>BIBILIOGRAPHY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Management System  Using PHP and MySQL</dc:title>
  <dc:creator>Anuj kumar</dc:creator>
  <cp:lastModifiedBy>nikhil kaushal</cp:lastModifiedBy>
  <cp:revision>29</cp:revision>
  <dcterms:created xsi:type="dcterms:W3CDTF">2021-09-29T16:42:25Z</dcterms:created>
  <dcterms:modified xsi:type="dcterms:W3CDTF">2026-05-10T18:25:44Z</dcterms:modified>
</cp:coreProperties>
</file>